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4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93"/>
  </p:notesMasterIdLst>
  <p:sldIdLst>
    <p:sldId id="291" r:id="rId17"/>
    <p:sldId id="358" r:id="rId19"/>
    <p:sldId id="356" r:id="rId18"/>
    <p:sldId id="376" r:id="rId28"/>
    <p:sldId id="441" r:id="rId106"/>
    <p:sldId id="452" r:id="rId117"/>
    <p:sldId id="442" r:id="rId107"/>
    <p:sldId id="453" r:id="rId118"/>
    <p:sldId id="377" r:id="rId29"/>
    <p:sldId id="386" r:id="rId37"/>
    <p:sldId id="450" r:id="rId115"/>
    <p:sldId id="451" r:id="rId116"/>
    <p:sldId id="445" r:id="rId110"/>
    <p:sldId id="446" r:id="rId111"/>
    <p:sldId id="443" r:id="rId108"/>
    <p:sldId id="447" r:id="rId112"/>
    <p:sldId id="444" r:id="rId109"/>
    <p:sldId id="375" r:id="rId27"/>
    <p:sldId id="449" r:id="rId114"/>
    <p:sldId id="448" r:id="rId113"/>
    <p:sldId id="440" r:id="rId50"/>
  </p:sldIdLst>
  <p:sldSz cx="9144000" cy="5143500" type="screen16x9"/>
  <p:notesSz cx="6858000" cy="9144000"/>
  <p:embeddedFontLst>
    <p:embeddedFont>
      <p:font typeface="Poppins" pitchFamily="2" charset="77"/>
      <p:regular r:id="rId94"/>
      <p:bold r:id="rId95"/>
      <p:italic r:id="rId96"/>
      <p:boldItalic r:id="rId97"/>
    </p:embeddedFont>
    <p:embeddedFont>
      <p:font typeface="Poppins SemiBold" pitchFamily="2" charset="77"/>
      <p:regular r:id="rId98"/>
      <p:bold r:id="rId99"/>
      <p:italic r:id="rId100"/>
      <p:boldItalic r:id="rId10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7" Type="http://schemas.openxmlformats.org/officeDocument/2006/relationships/slide" Target="slides/slide34.xml"/><Relationship Id="rId102" Type="http://schemas.openxmlformats.org/officeDocument/2006/relationships/presProps" Target="presProps.xml"/><Relationship Id="rId95" Type="http://schemas.openxmlformats.org/officeDocument/2006/relationships/font" Target="fonts/font2.fntdata"/><Relationship Id="rId27" Type="http://schemas.openxmlformats.org/officeDocument/2006/relationships/slide" Target="slides/slide24.xml"/><Relationship Id="rId17" Type="http://schemas.openxmlformats.org/officeDocument/2006/relationships/slide" Target="slides/slide14.xml"/><Relationship Id="rId103" Type="http://schemas.openxmlformats.org/officeDocument/2006/relationships/viewProps" Target="viewProps.xml"/><Relationship Id="rId9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5.xml"/><Relationship Id="rId94" Type="http://schemas.openxmlformats.org/officeDocument/2006/relationships/font" Target="fonts/font1.fntdata"/><Relationship Id="rId99" Type="http://schemas.openxmlformats.org/officeDocument/2006/relationships/font" Target="fonts/font6.fntdata"/><Relationship Id="rId101" Type="http://schemas.openxmlformats.org/officeDocument/2006/relationships/font" Target="fonts/font8.fntdata"/><Relationship Id="rId18" Type="http://schemas.openxmlformats.org/officeDocument/2006/relationships/slide" Target="slides/slide15.xml"/><Relationship Id="rId50" Type="http://schemas.openxmlformats.org/officeDocument/2006/relationships/slide" Target="slides/slide47.xml"/><Relationship Id="rId97" Type="http://schemas.openxmlformats.org/officeDocument/2006/relationships/font" Target="fonts/font4.fntdata"/><Relationship Id="rId104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19" Type="http://schemas.openxmlformats.org/officeDocument/2006/relationships/slide" Target="slides/slide16.xml"/><Relationship Id="rId100" Type="http://schemas.openxmlformats.org/officeDocument/2006/relationships/font" Target="fonts/font7.fntdata"/><Relationship Id="rId105" Type="http://schemas.openxmlformats.org/officeDocument/2006/relationships/tableStyles" Target="tableStyles.xml"/><Relationship Id="rId93" Type="http://schemas.openxmlformats.org/officeDocument/2006/relationships/notesMaster" Target="notesMasters/notesMaster1.xml"/><Relationship Id="rId98" Type="http://schemas.openxmlformats.org/officeDocument/2006/relationships/font" Target="fonts/font5.fntdata"/><Relationship Id="rId3" Type="http://schemas.openxmlformats.org/officeDocument/2006/relationships/slideMaster" Target="slideMasters/slideMaster3.xml"/>  <Relationship Id="rId106" Type="http://schemas.openxmlformats.org/officeDocument/2006/relationships/slide" Target="slides/slide48.xml"/>
  <Relationship Id="rId107" Type="http://schemas.openxmlformats.org/officeDocument/2006/relationships/slide" Target="slides/slide49.xml"/>
  <Relationship Id="rId108" Type="http://schemas.openxmlformats.org/officeDocument/2006/relationships/slide" Target="slides/slide50.xml"/>
  <Relationship Id="rId109" Type="http://schemas.openxmlformats.org/officeDocument/2006/relationships/slide" Target="slides/slide51.xml"/>
  <Relationship Id="rId110" Type="http://schemas.openxmlformats.org/officeDocument/2006/relationships/slide" Target="slides/slide52.xml"/>
  <Relationship Id="rId111" Type="http://schemas.openxmlformats.org/officeDocument/2006/relationships/slide" Target="slides/slide53.xml"/>
  <Relationship Id="rId112" Type="http://schemas.openxmlformats.org/officeDocument/2006/relationships/slide" Target="slides/slide54.xml"/>
  <Relationship Id="rId113" Type="http://schemas.openxmlformats.org/officeDocument/2006/relationships/slide" Target="slides/slide55.xml"/>
  <Relationship Id="rId114" Type="http://schemas.openxmlformats.org/officeDocument/2006/relationships/slide" Target="slides/slide56.xml"/>
  <Relationship Id="rId115" Type="http://schemas.openxmlformats.org/officeDocument/2006/relationships/slide" Target="slides/slide57.xml"/>
  <Relationship Id="rId116" Type="http://schemas.openxmlformats.org/officeDocument/2006/relationships/slide" Target="slides/slide58.xml"/>
  <Relationship Id="rId117" Type="http://schemas.openxmlformats.org/officeDocument/2006/relationships/slide" Target="slides/slide59.xml"/>
  <Relationship Id="rId118" Type="http://schemas.openxmlformats.org/officeDocument/2006/relationships/slide" Target="slides/slide60.xml"/>
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be6e1fd042_18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g2be6e1fd042_18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be6e1fd042_2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g2be6e1fd042_2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2be6e1fd042_2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g2be6e1fd042_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2be6e1fd042_2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0" name="Google Shape;1610;g2be6e1fd042_2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2be6e1fd042_22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g2be6e1fd042_22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be6e1fd042_22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g2be6e1fd042_22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be6e1fd042_22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g2be6e1fd042_22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2be6e1fd042_22_1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7" name="Google Shape;3007;g2be6e1fd042_22_1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0" name="Google Shape;60;p14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slide white">
  <p:cSld name="Chapterslide white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59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59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7" name="Google Shape;87;p20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1" name="Google Shape;91;p21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4" name="Google Shape;9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black">
  <p:cSld name="Only Title blac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8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8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9" name="Google Shape;119;p28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598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59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5" name="Google Shape;125;p29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ith graphic">
  <p:cSld name="Titlepage with graphic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7171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7171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3"/>
          </p:nvPr>
        </p:nvSpPr>
        <p:spPr>
          <a:xfrm>
            <a:off x="305993" y="2808542"/>
            <a:ext cx="426600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1" name="Google Shape;131;p30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0"/>
          <p:cNvSpPr>
            <a:spLocks noGrp="1"/>
          </p:cNvSpPr>
          <p:nvPr>
            <p:ph type="pic" idx="4"/>
          </p:nvPr>
        </p:nvSpPr>
        <p:spPr>
          <a:xfrm>
            <a:off x="4842273" y="0"/>
            <a:ext cx="4301728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31" descr="Ein Bild, das Zeichnung enthält.  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18" cy="359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3" r:id="rId4"/>
    <p:sldLayoutId id="2147483665" r:id="rId5"/>
    <p:sldLayoutId id="2147483666" r:id="rId6"/>
    <p:sldLayoutId id="214748366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18" cy="359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6.xml"/></Relationships>
</file>

<file path=ppt/slides/_rels/slide4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4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5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5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8"/>
          <p:cNvSpPr txBox="1">
            <a:spLocks noGrp="1"/>
          </p:cNvSpPr>
          <p:nvPr>
            <p:ph type="title"/>
          </p:nvPr>
        </p:nvSpPr>
        <p:spPr>
          <a:xfrm>
            <a:off x="306388" y="1768475"/>
            <a:ext cx="5738812" cy="92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b="0"/>
              <a:t xml:space="preserve">Task Mining Client configuration</a:t>
            </a:r>
            <a:endParaRPr/>
          </a:p>
        </p:txBody>
      </p:sp>
      <p:sp>
        <p:nvSpPr>
          <p:cNvPr id="560" name="Google Shape;560;p68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 xml:space="preserve">Product Design · Mahalakshmi Ravikumar</a:t>
            </a:r>
            <a:endParaRPr/>
          </a:p>
        </p:txBody>
      </p:sp>
      <p:sp>
        <p:nvSpPr>
          <p:cNvPr id="561" name="Google Shape;561;p68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 xml:space="preserve">28 July 2026</a:t>
            </a:r>
            <a:endParaRPr/>
          </a:p>
        </p:txBody>
      </p:sp>
      <p:sp>
        <p:nvSpPr>
          <p:cNvPr id="562" name="Google Shape;562;p68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"/>
              <a:t xml:space="preserve">Research findings and recommendations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33"/>
          <p:cNvSpPr txBox="1"/>
          <p:nvPr/>
        </p:nvSpPr>
        <p:spPr>
          <a:xfrm>
            <a:off x="306388" y="1819414"/>
            <a:ext cx="4302126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01</a:t>
            </a:r>
            <a:br>
              <a:rPr lang="en" sz="4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Background &amp; objectives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Why we ran this research, and what we set out to learn</a:t>
            </a: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1" name="Google Shape;1171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35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What we’ll cover</a:t>
            </a:r>
            <a:endParaRPr/>
          </a:p>
        </p:txBody>
      </p:sp>
      <p:sp>
        <p:nvSpPr>
          <p:cNvPr id="1182" name="Google Shape;1182;p135"/>
          <p:cNvSpPr txBox="1"/>
          <p:nvPr/>
        </p:nvSpPr>
        <p:spPr>
          <a:xfrm>
            <a:off x="307138" y="1856889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/>
          </a:p>
        </p:txBody>
      </p:sp>
      <p:sp>
        <p:nvSpPr>
          <p:cNvPr id="1183" name="Google Shape;1183;p135"/>
          <p:cNvSpPr txBox="1"/>
          <p:nvPr/>
        </p:nvSpPr>
        <p:spPr>
          <a:xfrm>
            <a:off x="939067" y="1937681"/>
            <a:ext cx="34169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 xml:space="preserve">How we ran it</a:t>
            </a:r>
            <a:endParaRPr/>
          </a:p>
        </p:txBody>
      </p:sp>
      <p:sp>
        <p:nvSpPr>
          <p:cNvPr id="1184" name="Google Shape;1184;p135"/>
          <p:cNvSpPr txBox="1"/>
          <p:nvPr/>
        </p:nvSpPr>
        <p:spPr>
          <a:xfrm>
            <a:off x="307134" y="2609370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/>
          </a:p>
        </p:txBody>
      </p:sp>
      <p:sp>
        <p:nvSpPr>
          <p:cNvPr id="1185" name="Google Shape;1185;p135"/>
          <p:cNvSpPr txBox="1"/>
          <p:nvPr/>
        </p:nvSpPr>
        <p:spPr>
          <a:xfrm>
            <a:off x="939067" y="2597827"/>
            <a:ext cx="34169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 xml:space="preserve">What we found</a:t>
            </a:r>
            <a:endParaRPr/>
          </a:p>
        </p:txBody>
      </p:sp>
      <p:sp>
        <p:nvSpPr>
          <p:cNvPr id="1186" name="Google Shape;1186;p135"/>
          <p:cNvSpPr txBox="1"/>
          <p:nvPr/>
        </p:nvSpPr>
        <p:spPr>
          <a:xfrm>
            <a:off x="307134" y="1104407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/>
          </a:p>
        </p:txBody>
      </p:sp>
      <p:sp>
        <p:nvSpPr>
          <p:cNvPr id="1187" name="Google Shape;1187;p135"/>
          <p:cNvSpPr txBox="1"/>
          <p:nvPr/>
        </p:nvSpPr>
        <p:spPr>
          <a:xfrm>
            <a:off x="939067" y="1185198"/>
            <a:ext cx="34169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 xml:space="preserve">Background &amp; objectives</a:t>
            </a:r>
            <a:endParaRPr/>
          </a:p>
        </p:txBody>
      </p:sp>
      <p:grpSp>
        <p:nvGrpSpPr>
          <p:cNvPr id="1190" name="Google Shape;1190;p135"/>
          <p:cNvGrpSpPr/>
          <p:nvPr/>
        </p:nvGrpSpPr>
        <p:grpSpPr>
          <a:xfrm>
            <a:off x="307134" y="1653772"/>
            <a:ext cx="4048863" cy="1504963"/>
            <a:chOff x="307134" y="1653772"/>
            <a:chExt cx="7089430" cy="1504963"/>
          </a:xfrm>
        </p:grpSpPr>
        <p:cxnSp>
          <p:nvCxnSpPr>
            <p:cNvPr id="1191" name="Google Shape;1191;p135"/>
            <p:cNvCxnSpPr/>
            <p:nvPr/>
          </p:nvCxnSpPr>
          <p:spPr>
            <a:xfrm>
              <a:off x="307134" y="1653772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2" name="Google Shape;1192;p135"/>
            <p:cNvCxnSpPr/>
            <p:nvPr/>
          </p:nvCxnSpPr>
          <p:spPr>
            <a:xfrm>
              <a:off x="307135" y="2406254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94" name="Google Shape;1194;p135"/>
          <p:cNvSpPr txBox="1"/>
          <p:nvPr/>
        </p:nvSpPr>
        <p:spPr>
          <a:xfrm>
            <a:off x="4788004" y="1856889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05</a:t>
            </a:r>
            <a:endParaRPr/>
          </a:p>
        </p:txBody>
      </p:sp>
      <p:sp>
        <p:nvSpPr>
          <p:cNvPr id="1195" name="Google Shape;1195;p135"/>
          <p:cNvSpPr txBox="1"/>
          <p:nvPr/>
        </p:nvSpPr>
        <p:spPr>
          <a:xfrm>
            <a:off x="5419933" y="1937681"/>
            <a:ext cx="341768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 xml:space="preserve">What we validated</a:t>
            </a:r>
            <a:endParaRPr/>
          </a:p>
        </p:txBody>
      </p:sp>
      <p:sp>
        <p:nvSpPr>
          <p:cNvPr id="1196" name="Google Shape;1196;p135"/>
          <p:cNvSpPr txBox="1"/>
          <p:nvPr/>
        </p:nvSpPr>
        <p:spPr>
          <a:xfrm>
            <a:off x="4788000" y="2609370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06</a:t>
            </a:r>
            <a:endParaRPr/>
          </a:p>
        </p:txBody>
      </p:sp>
      <p:sp>
        <p:nvSpPr>
          <p:cNvPr id="1197" name="Google Shape;1197;p135"/>
          <p:cNvSpPr txBox="1"/>
          <p:nvPr/>
        </p:nvSpPr>
        <p:spPr>
          <a:xfrm>
            <a:off x="5419933" y="2690160"/>
            <a:ext cx="341768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 xml:space="preserve">Recommendations &amp; next steps</a:t>
            </a:r>
            <a:endParaRPr/>
          </a:p>
        </p:txBody>
      </p:sp>
      <p:sp>
        <p:nvSpPr>
          <p:cNvPr id="1198" name="Google Shape;1198;p135"/>
          <p:cNvSpPr txBox="1"/>
          <p:nvPr/>
        </p:nvSpPr>
        <p:spPr>
          <a:xfrm>
            <a:off x="4788000" y="1104407"/>
            <a:ext cx="63193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04</a:t>
            </a:r>
            <a:endParaRPr/>
          </a:p>
        </p:txBody>
      </p:sp>
      <p:sp>
        <p:nvSpPr>
          <p:cNvPr id="1199" name="Google Shape;1199;p135"/>
          <p:cNvSpPr txBox="1"/>
          <p:nvPr/>
        </p:nvSpPr>
        <p:spPr>
          <a:xfrm>
            <a:off x="5419933" y="1092865"/>
            <a:ext cx="34176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 xml:space="preserve">What the research points to</a:t>
            </a:r>
            <a:endParaRPr/>
          </a:p>
        </p:txBody>
      </p:sp>
      <p:grpSp>
        <p:nvGrpSpPr>
          <p:cNvPr id="1202" name="Google Shape;1202;p135"/>
          <p:cNvGrpSpPr/>
          <p:nvPr/>
        </p:nvGrpSpPr>
        <p:grpSpPr>
          <a:xfrm>
            <a:off x="4788000" y="1653772"/>
            <a:ext cx="4049613" cy="1504963"/>
            <a:chOff x="307134" y="1653772"/>
            <a:chExt cx="7089430" cy="1504963"/>
          </a:xfrm>
        </p:grpSpPr>
        <p:cxnSp>
          <p:nvCxnSpPr>
            <p:cNvPr id="1203" name="Google Shape;1203;p135"/>
            <p:cNvCxnSpPr/>
            <p:nvPr/>
          </p:nvCxnSpPr>
          <p:spPr>
            <a:xfrm>
              <a:off x="307134" y="1653772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4" name="Google Shape;1204;p135"/>
            <p:cNvCxnSpPr/>
            <p:nvPr/>
          </p:nvCxnSpPr>
          <p:spPr>
            <a:xfrm>
              <a:off x="307135" y="2406254"/>
              <a:ext cx="708942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52"/>
          <p:cNvSpPr txBox="1">
            <a:spLocks noGrp="1"/>
          </p:cNvSpPr>
          <p:nvPr>
            <p:ph type="title"/>
          </p:nvPr>
        </p:nvSpPr>
        <p:spPr>
          <a:xfrm>
            <a:off x="365891" y="2762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What ships first</a:t>
            </a:r>
            <a:endParaRPr/>
          </a:p>
        </p:txBody>
      </p:sp>
      <p:sp>
        <p:nvSpPr>
          <p:cNvPr id="1613" name="Google Shape;1613;p152"/>
          <p:cNvSpPr txBox="1"/>
          <p:nvPr/>
        </p:nvSpPr>
        <p:spPr>
          <a:xfrm>
            <a:off x="305990" y="1556220"/>
            <a:ext cx="4086059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MVP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14" name="Google Shape;1614;p152"/>
          <p:cNvSpPr txBox="1"/>
          <p:nvPr/>
        </p:nvSpPr>
        <p:spPr>
          <a:xfrm>
            <a:off x="4751950" y="1556220"/>
            <a:ext cx="4086059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Post-MVP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15" name="Google Shape;1615;p152"/>
          <p:cNvGrpSpPr/>
          <p:nvPr/>
        </p:nvGrpSpPr>
        <p:grpSpPr>
          <a:xfrm>
            <a:off x="305990" y="2258933"/>
            <a:ext cx="4086059" cy="1133371"/>
            <a:chOff x="322301" y="2526073"/>
            <a:chExt cx="4087181" cy="1127002"/>
          </a:xfrm>
        </p:grpSpPr>
        <p:grpSp>
          <p:nvGrpSpPr>
            <p:cNvPr id="1616" name="Google Shape;1616;p152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617" name="Google Shape;1617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18" name="Google Shape;1618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One unified, guided configuration surface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19" name="Google Shape;1619;p152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620" name="Google Shape;1620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21" name="Google Shape;1621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Capture levels with clean, de-noised event lists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2" name="Google Shape;1622;p152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23" name="Google Shape;1623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24" name="Google Shape;1624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Core privacy — redaction, hashing, consent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25" name="Google Shape;1625;p152"/>
          <p:cNvGrpSpPr/>
          <p:nvPr/>
        </p:nvGrpSpPr>
        <p:grpSpPr>
          <a:xfrm>
            <a:off x="4751951" y="2258933"/>
            <a:ext cx="4086059" cy="1133371"/>
            <a:chOff x="322301" y="2526073"/>
            <a:chExt cx="4087181" cy="1127002"/>
          </a:xfrm>
        </p:grpSpPr>
        <p:grpSp>
          <p:nvGrpSpPr>
            <p:cNvPr id="1626" name="Google Shape;1626;p152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627" name="Google Shape;1627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28" name="Google Shape;1628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Advanced redaction — GDPR/HIPAA libraries, test-on-sample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9" name="Google Shape;1629;p152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630" name="Google Shape;1630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31" name="Google Shape;1631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Validation in EMS and the configuration simulator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32" name="Google Shape;1632;p152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33" name="Google Shape;1633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34" name="Google Shape;1634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New projects only; reuse by duplicating rule sets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5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The problem we set out to understand</a:t>
            </a:r>
            <a:endParaRPr/>
          </a:p>
        </p:txBody>
      </p:sp>
      <p:sp>
        <p:nvSpPr>
          <p:cNvPr id="1640" name="Google Shape;1640;p153"/>
          <p:cNvSpPr txBox="1"/>
          <p:nvPr/>
        </p:nvSpPr>
        <p:spPr>
          <a:xfrm>
            <a:off x="305991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Fragmented setup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1" name="Google Shape;1641;p153"/>
          <p:cNvGrpSpPr/>
          <p:nvPr/>
        </p:nvGrpSpPr>
        <p:grpSpPr>
          <a:xfrm>
            <a:off x="305980" y="2259075"/>
            <a:ext cx="2604016" cy="219936"/>
            <a:chOff x="315951" y="3029315"/>
            <a:chExt cx="2627400" cy="218689"/>
          </a:xfrm>
        </p:grpSpPr>
        <p:cxnSp>
          <p:nvCxnSpPr>
            <p:cNvPr id="1642" name="Google Shape;1642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3" name="Google Shape;1643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Split across a Basic web app and an Advanced desktop editor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44" name="Google Shape;1644;p153"/>
          <p:cNvSpPr txBox="1"/>
          <p:nvPr/>
        </p:nvSpPr>
        <p:spPr>
          <a:xfrm>
            <a:off x="3269997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Windows-only editor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45" name="Google Shape;1645;p153"/>
          <p:cNvSpPr txBox="1"/>
          <p:nvPr/>
        </p:nvSpPr>
        <p:spPr>
          <a:xfrm>
            <a:off x="6234002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Opaque controls &amp; noise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6" name="Google Shape;1646;p153"/>
          <p:cNvGrpSpPr/>
          <p:nvPr/>
        </p:nvGrpSpPr>
        <p:grpSpPr>
          <a:xfrm>
            <a:off x="305980" y="2715789"/>
            <a:ext cx="2604016" cy="219936"/>
            <a:chOff x="315951" y="3029315"/>
            <a:chExt cx="2627400" cy="218689"/>
          </a:xfrm>
        </p:grpSpPr>
        <p:cxnSp>
          <p:nvCxnSpPr>
            <p:cNvPr id="1647" name="Google Shape;1647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8" name="Google Shape;1648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Most real setup needs the Advanced editor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49" name="Google Shape;1649;p153"/>
          <p:cNvGrpSpPr/>
          <p:nvPr/>
        </p:nvGrpSpPr>
        <p:grpSpPr>
          <a:xfrm>
            <a:off x="305980" y="3172507"/>
            <a:ext cx="2604016" cy="219936"/>
            <a:chOff x="315951" y="3029315"/>
            <a:chExt cx="2627400" cy="218689"/>
          </a:xfrm>
        </p:grpSpPr>
        <p:cxnSp>
          <p:nvCxnSpPr>
            <p:cNvPr id="1650" name="Google Shape;1650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51" name="Google Shape;1651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Moving between them is manual and file-based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52" name="Google Shape;1652;p153"/>
          <p:cNvGrpSpPr/>
          <p:nvPr/>
        </p:nvGrpSpPr>
        <p:grpSpPr>
          <a:xfrm>
            <a:off x="6234007" y="2259056"/>
            <a:ext cx="2604112" cy="1133403"/>
            <a:chOff x="322314" y="2526073"/>
            <a:chExt cx="4087446" cy="1126979"/>
          </a:xfrm>
        </p:grpSpPr>
        <p:grpSp>
          <p:nvGrpSpPr>
            <p:cNvPr id="1653" name="Google Shape;1653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cxnSp>
            <p:nvCxnSpPr>
              <p:cNvPr id="1654" name="Google Shape;1654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5" name="Google Shape;1655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Technical labels like UIAA go unexplained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6" name="Google Shape;1656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cxnSp>
            <p:nvCxnSpPr>
              <p:cNvPr id="1657" name="Google Shape;165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8" name="Google Shape;165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Events vs. logs never made intuitive sense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9" name="Google Shape;1659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0" name="Google Shape;1660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1" name="Google Shape;1661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Everything captured by default buries the signal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62" name="Google Shape;1662;p153"/>
          <p:cNvGrpSpPr/>
          <p:nvPr/>
        </p:nvGrpSpPr>
        <p:grpSpPr>
          <a:xfrm>
            <a:off x="3270002" y="2259056"/>
            <a:ext cx="2604112" cy="1133403"/>
            <a:chOff x="322314" y="2526073"/>
            <a:chExt cx="4087446" cy="1126979"/>
          </a:xfrm>
        </p:grpSpPr>
        <p:grpSp>
          <p:nvGrpSpPr>
            <p:cNvPr id="1663" name="Google Shape;1663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sp>
            <p:nvSpPr>
              <p:cNvPr id="1664" name="Google Shape;1664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Mac admins must procure or emulate a PC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65" name="Google Shape;1665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666" name="Google Shape;1666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7" name="Google Shape;166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8" name="Google Shape;166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Raised by every participant, including our own VEs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9" name="Google Shape;1669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sp>
            <p:nvSpPr>
              <p:cNvPr id="1670" name="Google Shape;1670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The Advanced editor runs only on Windows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71" name="Google Shape;1671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15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What admins told us</a:t>
            </a:r>
            <a:endParaRPr/>
          </a:p>
        </p:txBody>
      </p:sp>
      <p:sp>
        <p:nvSpPr>
          <p:cNvPr id="1677" name="Google Shape;1677;p154"/>
          <p:cNvSpPr txBox="1"/>
          <p:nvPr/>
        </p:nvSpPr>
        <p:spPr>
          <a:xfrm>
            <a:off x="305991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Fragmented IA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78" name="Google Shape;1678;p154"/>
          <p:cNvGrpSpPr/>
          <p:nvPr/>
        </p:nvGrpSpPr>
        <p:grpSpPr>
          <a:xfrm>
            <a:off x="305991" y="2258935"/>
            <a:ext cx="1863004" cy="1133381"/>
            <a:chOff x="322301" y="2526067"/>
            <a:chExt cx="4087181" cy="1127008"/>
          </a:xfrm>
        </p:grpSpPr>
        <p:grpSp>
          <p:nvGrpSpPr>
            <p:cNvPr id="1679" name="Google Shape;1679;p154"/>
            <p:cNvGrpSpPr/>
            <p:nvPr/>
          </p:nvGrpSpPr>
          <p:grpSpPr>
            <a:xfrm>
              <a:off x="322301" y="2526067"/>
              <a:ext cx="4087181" cy="218712"/>
              <a:chOff x="315951" y="3029315"/>
              <a:chExt cx="2627300" cy="218712"/>
            </a:xfrm>
          </p:grpSpPr>
          <p:cxnSp>
            <p:nvCxnSpPr>
              <p:cNvPr id="1680" name="Google Shape;1680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1" name="Google Shape;1681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Basic vs. Advanced is confusing and restrictive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2" name="Google Shape;1682;p154"/>
            <p:cNvGrpSpPr/>
            <p:nvPr/>
          </p:nvGrpSpPr>
          <p:grpSpPr>
            <a:xfrm>
              <a:off x="322301" y="2980213"/>
              <a:ext cx="4087181" cy="218712"/>
              <a:chOff x="315951" y="3029315"/>
              <a:chExt cx="2627300" cy="218712"/>
            </a:xfrm>
          </p:grpSpPr>
          <p:cxnSp>
            <p:nvCxnSpPr>
              <p:cNvPr id="1683" name="Google Shape;1683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4" name="Google Shape;1684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Core functions hidden behind multiple clicks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5" name="Google Shape;1685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86" name="Google Shape;1686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7" name="Google Shape;1687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A one-way street between the two modes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1688" name="Google Shape;1688;p154"/>
          <p:cNvSpPr txBox="1"/>
          <p:nvPr/>
        </p:nvSpPr>
        <p:spPr>
          <a:xfrm>
            <a:off x="2528995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Windows barrier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89" name="Google Shape;1689;p154"/>
          <p:cNvGrpSpPr/>
          <p:nvPr/>
        </p:nvGrpSpPr>
        <p:grpSpPr>
          <a:xfrm>
            <a:off x="2528995" y="2258941"/>
            <a:ext cx="1863004" cy="219949"/>
            <a:chOff x="315951" y="3029315"/>
            <a:chExt cx="2627300" cy="218712"/>
          </a:xfrm>
        </p:grpSpPr>
        <p:cxnSp>
          <p:nvCxnSpPr>
            <p:cNvPr id="1690" name="Google Shape;1690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1" name="Google Shape;1691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The Advanced editor is Windows-only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92" name="Google Shape;1692;p154"/>
          <p:cNvGrpSpPr/>
          <p:nvPr/>
        </p:nvGrpSpPr>
        <p:grpSpPr>
          <a:xfrm>
            <a:off x="2528995" y="2715653"/>
            <a:ext cx="1863004" cy="219949"/>
            <a:chOff x="315951" y="3029315"/>
            <a:chExt cx="2627300" cy="218712"/>
          </a:xfrm>
        </p:grpSpPr>
        <p:cxnSp>
          <p:nvCxnSpPr>
            <p:cNvPr id="1693" name="Google Shape;1693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4" name="Google Shape;1694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Blocks setup before capture even begins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95" name="Google Shape;1695;p154"/>
          <p:cNvGrpSpPr/>
          <p:nvPr/>
        </p:nvGrpSpPr>
        <p:grpSpPr>
          <a:xfrm>
            <a:off x="2528995" y="3172364"/>
            <a:ext cx="1863004" cy="219949"/>
            <a:chOff x="315951" y="3029315"/>
            <a:chExt cx="2627300" cy="218712"/>
          </a:xfrm>
        </p:grpSpPr>
        <p:cxnSp>
          <p:nvCxnSpPr>
            <p:cNvPr id="1696" name="Google Shape;1696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7" name="Google Shape;1697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Directly delays time-to-value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98" name="Google Shape;1698;p154"/>
          <p:cNvSpPr txBox="1"/>
          <p:nvPr/>
        </p:nvSpPr>
        <p:spPr>
          <a:xfrm>
            <a:off x="6975004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Noisy defaults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99" name="Google Shape;1699;p154"/>
          <p:cNvGrpSpPr/>
          <p:nvPr/>
        </p:nvGrpSpPr>
        <p:grpSpPr>
          <a:xfrm>
            <a:off x="6975004" y="2258933"/>
            <a:ext cx="1863004" cy="1133371"/>
            <a:chOff x="322301" y="2526073"/>
            <a:chExt cx="4087181" cy="1127002"/>
          </a:xfrm>
        </p:grpSpPr>
        <p:grpSp>
          <p:nvGrpSpPr>
            <p:cNvPr id="1700" name="Google Shape;1700;p154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701" name="Google Shape;1701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2" name="Google Shape;1702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Everything is captured by default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3" name="Google Shape;1703;p154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704" name="Google Shape;1704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5" name="Google Shape;1705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Many fields add no analytical value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6" name="Google Shape;1706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707" name="Google Shape;1707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8" name="Google Shape;1708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Hard to tell signal from noise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1709" name="Google Shape;1709;p154"/>
          <p:cNvSpPr txBox="1"/>
          <p:nvPr/>
        </p:nvSpPr>
        <p:spPr>
          <a:xfrm>
            <a:off x="4751999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Opaque controls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710" name="Google Shape;1710;p154"/>
          <p:cNvGrpSpPr/>
          <p:nvPr/>
        </p:nvGrpSpPr>
        <p:grpSpPr>
          <a:xfrm>
            <a:off x="4751999" y="2258933"/>
            <a:ext cx="1863004" cy="1133371"/>
            <a:chOff x="322301" y="2526073"/>
            <a:chExt cx="4087181" cy="1127002"/>
          </a:xfrm>
        </p:grpSpPr>
        <p:grpSp>
          <p:nvGrpSpPr>
            <p:cNvPr id="1711" name="Google Shape;1711;p154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712" name="Google Shape;1712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3" name="Google Shape;1713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Jargon with no in-product guidance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4" name="Google Shape;1714;p154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715" name="Google Shape;1715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6" name="Google Shape;1716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Admins pick options they don’t understand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7" name="Google Shape;1717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718" name="Google Shape;1718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9" name="Google Shape;1719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Or stall waiting on support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63"/>
          <p:cNvSpPr txBox="1"/>
          <p:nvPr/>
        </p:nvSpPr>
        <p:spPr>
          <a:xfrm>
            <a:off x="306388" y="1186755"/>
            <a:ext cx="853122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>
                <a:solidFill>
                  <a:srgbClr val="0027FF"/>
                </a:solidFill>
                <a:latin typeface="Poppins"/>
                <a:ea typeface="Poppins"/>
                <a:cs typeface="Poppins"/>
                <a:sym typeface="Poppins"/>
              </a:rPr>
              <a:t xml:space="preserve">Granularity isn’t the </a:t>
            </a:r>
            <a:r>
              <a:rPr lang="en" sz="6000" b="0" i="0" u="none" strike="noStrike" cap="none">
                <a:solidFill>
                  <a:srgbClr val="0027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problem.</a:t>
            </a:r>
            <a:r>
              <a:rPr lang="en" sz="6000" b="0" i="0" u="none" strike="noStrike" cap="none">
                <a:solidFill>
                  <a:srgbClr val="0027FF"/>
                </a:solidFill>
                <a:latin typeface="Poppins"/>
                <a:ea typeface="Poppins"/>
                <a:cs typeface="Poppins"/>
                <a:sym typeface="Poppins"/>
              </a:rPr>
              <a:t xml:space="preserve"/>
            </a:r>
            <a:br>
              <a:rPr lang="en" sz="6000" b="0" i="0" u="none" strike="noStrike" cap="none">
                <a:solidFill>
                  <a:srgbClr val="0027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6000" b="0" i="0" u="none" strike="noStrike" cap="none">
                <a:solidFill>
                  <a:srgbClr val="0027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Making it </a:t>
            </a:r>
            <a:r>
              <a:rPr lang="en" sz="6000" b="0" i="0" u="none" strike="noStrike" cap="none">
                <a:solidFill>
                  <a:srgbClr val="0027FF"/>
                </a:solidFill>
                <a:latin typeface="Poppins"/>
                <a:ea typeface="Poppins"/>
                <a:cs typeface="Poppins"/>
                <a:sym typeface="Poppins"/>
              </a:rPr>
              <a:t xml:space="preserve">understandable is.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217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33"/>
          <p:cNvSpPr txBox="1"/>
          <p:nvPr/>
        </p:nvSpPr>
        <p:spPr>
          <a:xfrm>
            <a:off x="306388" y="1819414"/>
            <a:ext cx="4302126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02</a:t>
            </a:r>
            <a:br>
              <a:rPr lang="en" sz="4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How we ran it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In-depth interviews and navigation testing with admins and VEs</a:t>
            </a: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1" name="Google Shape;1171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33"/>
          <p:cNvSpPr txBox="1"/>
          <p:nvPr/>
        </p:nvSpPr>
        <p:spPr>
          <a:xfrm>
            <a:off x="306388" y="1819414"/>
            <a:ext cx="4302126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03</a:t>
            </a:r>
            <a:br>
              <a:rPr lang="en" sz="4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What we found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Three themes from interviews and testing</a:t>
            </a: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1" name="Google Shape;1171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33"/>
          <p:cNvSpPr txBox="1"/>
          <p:nvPr/>
        </p:nvSpPr>
        <p:spPr>
          <a:xfrm>
            <a:off x="306388" y="1819414"/>
            <a:ext cx="4302126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05</a:t>
            </a:r>
            <a:br>
              <a:rPr lang="en" sz="4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What we validated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Navigation testing with value engineers</a:t>
            </a: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1" name="Google Shape;1171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33"/>
          <p:cNvSpPr txBox="1"/>
          <p:nvPr/>
        </p:nvSpPr>
        <p:spPr>
          <a:xfrm>
            <a:off x="306388" y="1819414"/>
            <a:ext cx="4302126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06</a:t>
            </a:r>
            <a:br>
              <a:rPr lang="en" sz="4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Recommendations &amp; next steps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What ships first, and what we recommend</a:t>
            </a: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1" name="Google Shape;1171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5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One decision, three capture levels</a:t>
            </a:r>
            <a:endParaRPr/>
          </a:p>
        </p:txBody>
      </p:sp>
      <p:sp>
        <p:nvSpPr>
          <p:cNvPr id="1640" name="Google Shape;1640;p153"/>
          <p:cNvSpPr txBox="1"/>
          <p:nvPr/>
        </p:nvSpPr>
        <p:spPr>
          <a:xfrm>
            <a:off x="305991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Full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1" name="Google Shape;1641;p153"/>
          <p:cNvGrpSpPr/>
          <p:nvPr/>
        </p:nvGrpSpPr>
        <p:grpSpPr>
          <a:xfrm>
            <a:off x="305980" y="2259075"/>
            <a:ext cx="2604016" cy="219936"/>
            <a:chOff x="315951" y="3029315"/>
            <a:chExt cx="2627400" cy="218689"/>
          </a:xfrm>
        </p:grpSpPr>
        <p:cxnSp>
          <p:nvCxnSpPr>
            <p:cNvPr id="1642" name="Google Shape;1642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3" name="Google Shape;1643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Captures everything — events, attributes and screenshots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44" name="Google Shape;1644;p153"/>
          <p:cNvSpPr txBox="1"/>
          <p:nvPr/>
        </p:nvSpPr>
        <p:spPr>
          <a:xfrm>
            <a:off x="3269997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Custom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45" name="Google Shape;1645;p153"/>
          <p:cNvSpPr txBox="1"/>
          <p:nvPr/>
        </p:nvSpPr>
        <p:spPr>
          <a:xfrm>
            <a:off x="6234002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Deny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6" name="Google Shape;1646;p153"/>
          <p:cNvGrpSpPr/>
          <p:nvPr/>
        </p:nvGrpSpPr>
        <p:grpSpPr>
          <a:xfrm>
            <a:off x="305980" y="2715789"/>
            <a:ext cx="2604016" cy="219936"/>
            <a:chOff x="315951" y="3029315"/>
            <a:chExt cx="2627400" cy="218689"/>
          </a:xfrm>
        </p:grpSpPr>
        <p:cxnSp>
          <p:nvCxnSpPr>
            <p:cNvPr id="1647" name="Google Shape;1647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8" name="Google Shape;1648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For processes you want to analyse in depth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49" name="Google Shape;1649;p153"/>
          <p:cNvGrpSpPr/>
          <p:nvPr/>
        </p:nvGrpSpPr>
        <p:grpSpPr>
          <a:xfrm>
            <a:off x="305980" y="3172507"/>
            <a:ext cx="2604016" cy="219936"/>
            <a:chOff x="315951" y="3029315"/>
            <a:chExt cx="2627400" cy="218689"/>
          </a:xfrm>
        </p:grpSpPr>
        <p:cxnSp>
          <p:nvCxnSpPr>
            <p:cNvPr id="1650" name="Google Shape;1650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51" name="Google Shape;1651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The default, matching how the client behaves today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52" name="Google Shape;1652;p153"/>
          <p:cNvGrpSpPr/>
          <p:nvPr/>
        </p:nvGrpSpPr>
        <p:grpSpPr>
          <a:xfrm>
            <a:off x="6234007" y="2259056"/>
            <a:ext cx="2604112" cy="1133403"/>
            <a:chOff x="322314" y="2526073"/>
            <a:chExt cx="4087446" cy="1126979"/>
          </a:xfrm>
        </p:grpSpPr>
        <p:grpSp>
          <p:nvGrpSpPr>
            <p:cNvPr id="1653" name="Google Shape;1653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cxnSp>
            <p:nvCxnSpPr>
              <p:cNvPr id="1654" name="Google Shape;1654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5" name="Google Shape;1655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Captures nothing for that scope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6" name="Google Shape;1656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cxnSp>
            <p:nvCxnSpPr>
              <p:cNvPr id="1657" name="Google Shape;165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8" name="Google Shape;165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For apps or URLs to exclude entirely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9" name="Google Shape;1659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0" name="Google Shape;1660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1" name="Google Shape;1661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Nothing to redact or preview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62" name="Google Shape;1662;p153"/>
          <p:cNvGrpSpPr/>
          <p:nvPr/>
        </p:nvGrpSpPr>
        <p:grpSpPr>
          <a:xfrm>
            <a:off x="3270002" y="2259056"/>
            <a:ext cx="2604112" cy="1133403"/>
            <a:chOff x="322314" y="2526073"/>
            <a:chExt cx="4087446" cy="1126979"/>
          </a:xfrm>
        </p:grpSpPr>
        <p:grpSp>
          <p:nvGrpSpPr>
            <p:cNvPr id="1663" name="Google Shape;1663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sp>
            <p:nvSpPr>
              <p:cNvPr id="1664" name="Google Shape;1664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No typed text, selected values or screenshots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65" name="Google Shape;1665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666" name="Google Shape;1666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7" name="Google Shape;166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8" name="Google Shape;166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For sensitive screens or a first discovery pass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9" name="Google Shape;1669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sp>
            <p:nvSpPr>
              <p:cNvPr id="1670" name="Google Shape;1670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Captures that an app was used, plus element names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71" name="Google Shape;1671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5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One object-based structure</a:t>
            </a:r>
            <a:endParaRPr/>
          </a:p>
        </p:txBody>
      </p:sp>
      <p:sp>
        <p:nvSpPr>
          <p:cNvPr id="1640" name="Google Shape;1640;p153"/>
          <p:cNvSpPr txBox="1"/>
          <p:nvPr/>
        </p:nvSpPr>
        <p:spPr>
          <a:xfrm>
            <a:off x="305991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Capture Rules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1" name="Google Shape;1641;p153"/>
          <p:cNvGrpSpPr/>
          <p:nvPr/>
        </p:nvGrpSpPr>
        <p:grpSpPr>
          <a:xfrm>
            <a:off x="305980" y="2259075"/>
            <a:ext cx="2604016" cy="219936"/>
            <a:chOff x="315951" y="3029315"/>
            <a:chExt cx="2627400" cy="218689"/>
          </a:xfrm>
        </p:grpSpPr>
        <p:cxnSp>
          <p:nvCxnSpPr>
            <p:cNvPr id="1642" name="Google Shape;1642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3" name="Google Shape;1643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The core: what Task Mining records, and where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44" name="Google Shape;1644;p153"/>
          <p:cNvSpPr txBox="1"/>
          <p:nvPr/>
        </p:nvSpPr>
        <p:spPr>
          <a:xfrm>
            <a:off x="3269997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Privacy &amp; Consent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45" name="Google Shape;1645;p153"/>
          <p:cNvSpPr txBox="1"/>
          <p:nvPr/>
        </p:nvSpPr>
        <p:spPr>
          <a:xfrm>
            <a:off x="6234002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Behaviour &amp; data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6" name="Google Shape;1646;p153"/>
          <p:cNvGrpSpPr/>
          <p:nvPr/>
        </p:nvGrpSpPr>
        <p:grpSpPr>
          <a:xfrm>
            <a:off x="305980" y="2715789"/>
            <a:ext cx="2604016" cy="219936"/>
            <a:chOff x="315951" y="3029315"/>
            <a:chExt cx="2627400" cy="218689"/>
          </a:xfrm>
        </p:grpSpPr>
        <p:cxnSp>
          <p:nvCxnSpPr>
            <p:cNvPr id="1647" name="Google Shape;1647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8" name="Google Shape;1648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Each rule sets scope, capture level and captured data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49" name="Google Shape;1649;p153"/>
          <p:cNvGrpSpPr/>
          <p:nvPr/>
        </p:nvGrpSpPr>
        <p:grpSpPr>
          <a:xfrm>
            <a:off x="305980" y="3172507"/>
            <a:ext cx="2604016" cy="219936"/>
            <a:chOff x="315951" y="3029315"/>
            <a:chExt cx="2627400" cy="218689"/>
          </a:xfrm>
        </p:grpSpPr>
        <p:cxnSp>
          <p:nvCxnSpPr>
            <p:cNvPr id="1650" name="Google Shape;1650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51" name="Google Shape;1651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A default rule catches anything not covered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52" name="Google Shape;1652;p153"/>
          <p:cNvGrpSpPr/>
          <p:nvPr/>
        </p:nvGrpSpPr>
        <p:grpSpPr>
          <a:xfrm>
            <a:off x="6234007" y="2259056"/>
            <a:ext cx="2604112" cy="1133403"/>
            <a:chOff x="322314" y="2526073"/>
            <a:chExt cx="4087446" cy="1126979"/>
          </a:xfrm>
        </p:grpSpPr>
        <p:grpSp>
          <p:nvGrpSpPr>
            <p:cNvPr id="1653" name="Google Shape;1653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cxnSp>
            <p:nvCxnSpPr>
              <p:cNvPr id="1654" name="Google Shape;1654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5" name="Google Shape;1655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Client Behaviour: recording, startup, live monitor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6" name="Google Shape;1656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cxnSp>
            <p:nvCxnSpPr>
              <p:cNvPr id="1657" name="Google Shape;165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8" name="Google Shape;165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Data Connection: where captured data is sent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9" name="Google Shape;1659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0" name="Google Shape;1660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1" name="Google Shape;1661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SAP and other sources appear only when relevant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62" name="Google Shape;1662;p153"/>
          <p:cNvGrpSpPr/>
          <p:nvPr/>
        </p:nvGrpSpPr>
        <p:grpSpPr>
          <a:xfrm>
            <a:off x="3270002" y="2259056"/>
            <a:ext cx="2604112" cy="1133403"/>
            <a:chOff x="322314" y="2526073"/>
            <a:chExt cx="4087446" cy="1126979"/>
          </a:xfrm>
        </p:grpSpPr>
        <p:grpSp>
          <p:nvGrpSpPr>
            <p:cNvPr id="1663" name="Google Shape;1663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sp>
            <p:nvSpPr>
              <p:cNvPr id="1664" name="Google Shape;1664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Hashing of usernames and machine IDs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65" name="Google Shape;1665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666" name="Google Shape;1666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7" name="Google Shape;166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8" name="Google Shape;166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User consent — all in one place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9" name="Google Shape;1669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sp>
            <p:nvSpPr>
              <p:cNvPr id="1670" name="Google Shape;1670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Redaction, with the ability to test the result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71" name="Google Shape;1671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5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The structure held up — one thing to fix</a:t>
            </a:r>
            <a:endParaRPr/>
          </a:p>
        </p:txBody>
      </p:sp>
      <p:sp>
        <p:nvSpPr>
          <p:cNvPr id="1640" name="Google Shape;1640;p153"/>
          <p:cNvSpPr txBox="1"/>
          <p:nvPr/>
        </p:nvSpPr>
        <p:spPr>
          <a:xfrm>
            <a:off x="305991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IA validated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1" name="Google Shape;1641;p153"/>
          <p:cNvGrpSpPr/>
          <p:nvPr/>
        </p:nvGrpSpPr>
        <p:grpSpPr>
          <a:xfrm>
            <a:off x="305980" y="2259075"/>
            <a:ext cx="2604016" cy="219936"/>
            <a:chOff x="315951" y="3029315"/>
            <a:chExt cx="2627400" cy="218689"/>
          </a:xfrm>
        </p:grpSpPr>
        <p:cxnSp>
          <p:nvCxnSpPr>
            <p:cNvPr id="1642" name="Google Shape;1642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3" name="Google Shape;1643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Both VEs landed in the right area on every task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44" name="Google Shape;1644;p153"/>
          <p:cNvSpPr txBox="1"/>
          <p:nvPr/>
        </p:nvSpPr>
        <p:spPr>
          <a:xfrm>
            <a:off x="3269997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The naming failed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45" name="Google Shape;1645;p153"/>
          <p:cNvSpPr txBox="1"/>
          <p:nvPr/>
        </p:nvSpPr>
        <p:spPr>
          <a:xfrm>
            <a:off x="6234002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What we changed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6" name="Google Shape;1646;p153"/>
          <p:cNvGrpSpPr/>
          <p:nvPr/>
        </p:nvGrpSpPr>
        <p:grpSpPr>
          <a:xfrm>
            <a:off x="305980" y="2715789"/>
            <a:ext cx="2604016" cy="219936"/>
            <a:chOff x="315951" y="3029315"/>
            <a:chExt cx="2627400" cy="218689"/>
          </a:xfrm>
        </p:grpSpPr>
        <p:cxnSp>
          <p:nvCxnSpPr>
            <p:cNvPr id="1647" name="Google Shape;1647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8" name="Google Shape;1648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Privacy for redaction, Capture Rules for targeting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49" name="Google Shape;1649;p153"/>
          <p:cNvGrpSpPr/>
          <p:nvPr/>
        </p:nvGrpSpPr>
        <p:grpSpPr>
          <a:xfrm>
            <a:off x="305980" y="3172507"/>
            <a:ext cx="2604016" cy="219936"/>
            <a:chOff x="315951" y="3029315"/>
            <a:chExt cx="2627400" cy="218689"/>
          </a:xfrm>
        </p:grpSpPr>
        <p:cxnSp>
          <p:nvCxnSpPr>
            <p:cNvPr id="1650" name="Google Shape;1650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51" name="Google Shape;1651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Safe to design and build against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52" name="Google Shape;1652;p153"/>
          <p:cNvGrpSpPr/>
          <p:nvPr/>
        </p:nvGrpSpPr>
        <p:grpSpPr>
          <a:xfrm>
            <a:off x="6234007" y="2259056"/>
            <a:ext cx="2604112" cy="1133403"/>
            <a:chOff x="322314" y="2526073"/>
            <a:chExt cx="4087446" cy="1126979"/>
          </a:xfrm>
        </p:grpSpPr>
        <p:grpSp>
          <p:nvGrpSpPr>
            <p:cNvPr id="1653" name="Google Shape;1653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cxnSp>
            <p:nvCxnSpPr>
              <p:cNvPr id="1654" name="Google Shape;1654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5" name="Google Shape;1655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Renamed Usage-only to Custom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6" name="Google Shape;1656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cxnSp>
            <p:nvCxnSpPr>
              <p:cNvPr id="1657" name="Google Shape;165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8" name="Google Shape;165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Adding a “what this captures” summary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9" name="Google Shape;1659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0" name="Google Shape;1660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1" name="Google Shape;1661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Re-testing the rename before hi-fi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62" name="Google Shape;1662;p153"/>
          <p:cNvGrpSpPr/>
          <p:nvPr/>
        </p:nvGrpSpPr>
        <p:grpSpPr>
          <a:xfrm>
            <a:off x="3270002" y="2259056"/>
            <a:ext cx="2604112" cy="1133403"/>
            <a:chOff x="322314" y="2526073"/>
            <a:chExt cx="4087446" cy="1126979"/>
          </a:xfrm>
        </p:grpSpPr>
        <p:grpSp>
          <p:nvGrpSpPr>
            <p:cNvPr id="1663" name="Google Shape;1663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sp>
            <p:nvSpPr>
              <p:cNvPr id="1664" name="Google Shape;1664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The strongest signal across both sessions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65" name="Google Shape;1665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666" name="Google Shape;1666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7" name="Google Shape;166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8" name="Google Shape;166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The confusion lived in the level selector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9" name="Google Shape;1669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sp>
            <p:nvSpPr>
              <p:cNvPr id="1670" name="Google Shape;1670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Neither could explain Full vs. Usage-only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71" name="Google Shape;1671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5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Recommendations and open decisions</a:t>
            </a:r>
            <a:endParaRPr/>
          </a:p>
        </p:txBody>
      </p:sp>
      <p:sp>
        <p:nvSpPr>
          <p:cNvPr id="1640" name="Google Shape;1640;p153"/>
          <p:cNvSpPr txBox="1"/>
          <p:nvPr/>
        </p:nvSpPr>
        <p:spPr>
          <a:xfrm>
            <a:off x="305991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Build on what held up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1" name="Google Shape;1641;p153"/>
          <p:cNvGrpSpPr/>
          <p:nvPr/>
        </p:nvGrpSpPr>
        <p:grpSpPr>
          <a:xfrm>
            <a:off x="305980" y="2259075"/>
            <a:ext cx="2604016" cy="219936"/>
            <a:chOff x="315951" y="3029315"/>
            <a:chExt cx="2627400" cy="218689"/>
          </a:xfrm>
        </p:grpSpPr>
        <p:cxnSp>
          <p:nvCxnSpPr>
            <p:cNvPr id="1642" name="Google Shape;1642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3" name="Google Shape;1643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The object-based IA validated — design against it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44" name="Google Shape;1644;p153"/>
          <p:cNvSpPr txBox="1"/>
          <p:nvPr/>
        </p:nvSpPr>
        <p:spPr>
          <a:xfrm>
            <a:off x="3269997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De-risk before hi-fi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45" name="Google Shape;1645;p153"/>
          <p:cNvSpPr txBox="1"/>
          <p:nvPr/>
        </p:nvSpPr>
        <p:spPr>
          <a:xfrm>
            <a:off x="6234002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Open decisions to close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6" name="Google Shape;1646;p153"/>
          <p:cNvGrpSpPr/>
          <p:nvPr/>
        </p:nvGrpSpPr>
        <p:grpSpPr>
          <a:xfrm>
            <a:off x="305980" y="2715789"/>
            <a:ext cx="2604016" cy="219936"/>
            <a:chOff x="315951" y="3029315"/>
            <a:chExt cx="2627400" cy="218689"/>
          </a:xfrm>
        </p:grpSpPr>
        <p:cxnSp>
          <p:nvCxnSpPr>
            <p:cNvPr id="1647" name="Google Shape;1647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8" name="Google Shape;1648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Ship capture levels — Full, Custom, Deny — in the MVP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49" name="Google Shape;1649;p153"/>
          <p:cNvGrpSpPr/>
          <p:nvPr/>
        </p:nvGrpSpPr>
        <p:grpSpPr>
          <a:xfrm>
            <a:off x="305980" y="3172507"/>
            <a:ext cx="2604016" cy="219936"/>
            <a:chOff x="315951" y="3029315"/>
            <a:chExt cx="2627400" cy="218689"/>
          </a:xfrm>
        </p:grpSpPr>
        <p:cxnSp>
          <p:nvCxnSpPr>
            <p:cNvPr id="1650" name="Google Shape;1650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51" name="Google Shape;1651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Strip noise fields; reveal situational data only when enabled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52" name="Google Shape;1652;p153"/>
          <p:cNvGrpSpPr/>
          <p:nvPr/>
        </p:nvGrpSpPr>
        <p:grpSpPr>
          <a:xfrm>
            <a:off x="6234007" y="2259056"/>
            <a:ext cx="2604112" cy="1133403"/>
            <a:chOff x="322314" y="2526073"/>
            <a:chExt cx="4087446" cy="1126979"/>
          </a:xfrm>
        </p:grpSpPr>
        <p:grpSp>
          <p:nvGrpSpPr>
            <p:cNvPr id="1653" name="Google Shape;1653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cxnSp>
            <p:nvCxnSpPr>
              <p:cNvPr id="1654" name="Google Shape;1654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5" name="Google Shape;1655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Where SAP enablement lives — global or within a rule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6" name="Google Shape;1656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cxnSp>
            <p:nvCxnSpPr>
              <p:cNvPr id="1657" name="Google Shape;165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8" name="Google Shape;165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Admin-gated access and roles for the live event monitor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9" name="Google Shape;1659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0" name="Google Shape;1660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1" name="Google Shape;1661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Element ID / class name — needed for agentic blueprints?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62" name="Google Shape;1662;p153"/>
          <p:cNvGrpSpPr/>
          <p:nvPr/>
        </p:nvGrpSpPr>
        <p:grpSpPr>
          <a:xfrm>
            <a:off x="3270002" y="2259056"/>
            <a:ext cx="2604112" cy="1133403"/>
            <a:chOff x="322314" y="2526073"/>
            <a:chExt cx="4087446" cy="1126979"/>
          </a:xfrm>
        </p:grpSpPr>
        <p:grpSp>
          <p:nvGrpSpPr>
            <p:cNvPr id="1663" name="Google Shape;1663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sp>
            <p:nvSpPr>
              <p:cNvPr id="1664" name="Google Shape;1664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Prove a “what this captures” summary resolves the confusion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65" name="Google Shape;1665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666" name="Google Shape;1666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7" name="Google Shape;166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8" name="Google Shape;166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Give the level selector the most design attention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9" name="Google Shape;1669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sp>
            <p:nvSpPr>
              <p:cNvPr id="1670" name="Google Shape;1670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Re-test the Usage-only → Custom rename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71" name="Google Shape;1671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15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How we’ll measure success</a:t>
            </a:r>
            <a:endParaRPr/>
          </a:p>
        </p:txBody>
      </p:sp>
      <p:sp>
        <p:nvSpPr>
          <p:cNvPr id="1677" name="Google Shape;1677;p154"/>
          <p:cNvSpPr txBox="1"/>
          <p:nvPr/>
        </p:nvSpPr>
        <p:spPr>
          <a:xfrm>
            <a:off x="305991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Time-to-valid-config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78" name="Google Shape;1678;p154"/>
          <p:cNvGrpSpPr/>
          <p:nvPr/>
        </p:nvGrpSpPr>
        <p:grpSpPr>
          <a:xfrm>
            <a:off x="305991" y="2258935"/>
            <a:ext cx="1863004" cy="1133381"/>
            <a:chOff x="322301" y="2526067"/>
            <a:chExt cx="4087181" cy="1127008"/>
          </a:xfrm>
        </p:grpSpPr>
        <p:grpSp>
          <p:nvGrpSpPr>
            <p:cNvPr id="1679" name="Google Shape;1679;p154"/>
            <p:cNvGrpSpPr/>
            <p:nvPr/>
          </p:nvGrpSpPr>
          <p:grpSpPr>
            <a:xfrm>
              <a:off x="322301" y="2526067"/>
              <a:ext cx="4087181" cy="218712"/>
              <a:chOff x="315951" y="3029315"/>
              <a:chExt cx="2627300" cy="218712"/>
            </a:xfrm>
          </p:grpSpPr>
          <p:cxnSp>
            <p:nvCxnSpPr>
              <p:cNvPr id="1680" name="Google Shape;1680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1" name="Google Shape;1681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From starting a config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2" name="Google Shape;1682;p154"/>
            <p:cNvGrpSpPr/>
            <p:nvPr/>
          </p:nvGrpSpPr>
          <p:grpSpPr>
            <a:xfrm>
              <a:off x="322301" y="2980213"/>
              <a:ext cx="4087181" cy="218712"/>
              <a:chOff x="315951" y="3029315"/>
              <a:chExt cx="2627300" cy="218712"/>
            </a:xfrm>
          </p:grpSpPr>
          <p:cxnSp>
            <p:nvCxnSpPr>
              <p:cNvPr id="1683" name="Google Shape;1683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4" name="Google Shape;1684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to a validated, deployable rule set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5" name="Google Shape;1685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86" name="Google Shape;1686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7" name="Google Shape;1687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New flow vs. today’s baseline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1688" name="Google Shape;1688;p154"/>
          <p:cNvSpPr txBox="1"/>
          <p:nvPr/>
        </p:nvSpPr>
        <p:spPr>
          <a:xfrm>
            <a:off x="2528995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Errors &amp; rework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89" name="Google Shape;1689;p154"/>
          <p:cNvGrpSpPr/>
          <p:nvPr/>
        </p:nvGrpSpPr>
        <p:grpSpPr>
          <a:xfrm>
            <a:off x="2528995" y="2258941"/>
            <a:ext cx="1863004" cy="219949"/>
            <a:chOff x="315951" y="3029315"/>
            <a:chExt cx="2627300" cy="218712"/>
          </a:xfrm>
        </p:grpSpPr>
        <p:cxnSp>
          <p:nvCxnSpPr>
            <p:cNvPr id="1690" name="Google Shape;1690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1" name="Google Shape;1691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Misconfigurations and re-uploads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92" name="Google Shape;1692;p154"/>
          <p:cNvGrpSpPr/>
          <p:nvPr/>
        </p:nvGrpSpPr>
        <p:grpSpPr>
          <a:xfrm>
            <a:off x="2528995" y="2715653"/>
            <a:ext cx="1863004" cy="219949"/>
            <a:chOff x="315951" y="3029315"/>
            <a:chExt cx="2627300" cy="218712"/>
          </a:xfrm>
        </p:grpSpPr>
        <p:cxnSp>
          <p:nvCxnSpPr>
            <p:cNvPr id="1693" name="Google Shape;1693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4" name="Google Shape;1694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Config-related support tickets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95" name="Google Shape;1695;p154"/>
          <p:cNvGrpSpPr/>
          <p:nvPr/>
        </p:nvGrpSpPr>
        <p:grpSpPr>
          <a:xfrm>
            <a:off x="2528995" y="3172364"/>
            <a:ext cx="1863004" cy="219949"/>
            <a:chOff x="315951" y="3029315"/>
            <a:chExt cx="2627300" cy="218712"/>
          </a:xfrm>
        </p:grpSpPr>
        <p:cxnSp>
          <p:nvCxnSpPr>
            <p:cNvPr id="1696" name="Google Shape;1696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7" name="Google Shape;1697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Read after launch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98" name="Google Shape;1698;p154"/>
          <p:cNvSpPr txBox="1"/>
          <p:nvPr/>
        </p:nvSpPr>
        <p:spPr>
          <a:xfrm>
            <a:off x="6975004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Redaction misses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99" name="Google Shape;1699;p154"/>
          <p:cNvGrpSpPr/>
          <p:nvPr/>
        </p:nvGrpSpPr>
        <p:grpSpPr>
          <a:xfrm>
            <a:off x="6975004" y="2258933"/>
            <a:ext cx="1863004" cy="1133371"/>
            <a:chOff x="322301" y="2526073"/>
            <a:chExt cx="4087181" cy="1127002"/>
          </a:xfrm>
        </p:grpSpPr>
        <p:grpSp>
          <p:nvGrpSpPr>
            <p:cNvPr id="1700" name="Google Shape;1700;p154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701" name="Google Shape;1701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2" name="Google Shape;1702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Sensitive values that slip through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3" name="Google Shape;1703;p154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704" name="Google Shape;1704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5" name="Google Shape;1705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Compliance escalations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6" name="Google Shape;1706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707" name="Google Shape;1707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8" name="Google Shape;1708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Plus VE feedback on data quality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1709" name="Google Shape;1709;p154"/>
          <p:cNvSpPr txBox="1"/>
          <p:nvPr/>
        </p:nvSpPr>
        <p:spPr>
          <a:xfrm>
            <a:off x="4751999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Task success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710" name="Google Shape;1710;p154"/>
          <p:cNvGrpSpPr/>
          <p:nvPr/>
        </p:nvGrpSpPr>
        <p:grpSpPr>
          <a:xfrm>
            <a:off x="4751999" y="2258933"/>
            <a:ext cx="1863004" cy="1133371"/>
            <a:chOff x="322301" y="2526073"/>
            <a:chExt cx="4087181" cy="1127002"/>
          </a:xfrm>
        </p:grpSpPr>
        <p:grpSp>
          <p:nvGrpSpPr>
            <p:cNvPr id="1711" name="Google Shape;1711;p154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712" name="Google Shape;1712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3" name="Google Shape;1713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Tree and usability test success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4" name="Google Shape;1714;p154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715" name="Google Shape;1715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6" name="Google Shape;1716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Directness of navigation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7" name="Google Shape;1717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718" name="Google Shape;1718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9" name="Google Shape;1719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Can admins explain the levels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33"/>
          <p:cNvSpPr txBox="1"/>
          <p:nvPr/>
        </p:nvSpPr>
        <p:spPr>
          <a:xfrm>
            <a:off x="306388" y="1819414"/>
            <a:ext cx="4302126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04</a:t>
            </a:r>
            <a:br>
              <a:rPr lang="en" sz="4400" b="0" i="0" u="none" strike="noStrike" cap="non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" sz="3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What the research points to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 xml:space="preserve">Capture levels, and one object-based structure</a:t>
            </a: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1" name="Google Shape;1171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8312" y="265252"/>
            <a:ext cx="420413" cy="44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52"/>
          <p:cNvSpPr txBox="1">
            <a:spLocks noGrp="1"/>
          </p:cNvSpPr>
          <p:nvPr>
            <p:ph type="title"/>
          </p:nvPr>
        </p:nvSpPr>
        <p:spPr>
          <a:xfrm>
            <a:off x="365891" y="2762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From two surfaces to one journey</a:t>
            </a:r>
            <a:endParaRPr/>
          </a:p>
        </p:txBody>
      </p:sp>
      <p:sp>
        <p:nvSpPr>
          <p:cNvPr id="1613" name="Google Shape;1613;p152"/>
          <p:cNvSpPr txBox="1"/>
          <p:nvPr/>
        </p:nvSpPr>
        <p:spPr>
          <a:xfrm>
            <a:off x="305990" y="1556220"/>
            <a:ext cx="4086059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Today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14" name="Google Shape;1614;p152"/>
          <p:cNvSpPr txBox="1"/>
          <p:nvPr/>
        </p:nvSpPr>
        <p:spPr>
          <a:xfrm>
            <a:off x="4751950" y="1556220"/>
            <a:ext cx="4086059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Proposed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15" name="Google Shape;1615;p152"/>
          <p:cNvGrpSpPr/>
          <p:nvPr/>
        </p:nvGrpSpPr>
        <p:grpSpPr>
          <a:xfrm>
            <a:off x="305990" y="2258933"/>
            <a:ext cx="4086059" cy="1133371"/>
            <a:chOff x="322301" y="2526073"/>
            <a:chExt cx="4087181" cy="1127002"/>
          </a:xfrm>
        </p:grpSpPr>
        <p:grpSp>
          <p:nvGrpSpPr>
            <p:cNvPr id="1616" name="Google Shape;1616;p152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617" name="Google Shape;1617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18" name="Google Shape;1618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Basic web app plus a separate Advanced desktop editor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19" name="Google Shape;1619;p152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620" name="Google Shape;1620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21" name="Google Shape;1621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Windows-only, file-based — settings scattered across tabs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2" name="Google Shape;1622;p152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23" name="Google Shape;1623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24" name="Google Shape;1624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Admins guess which mode they need, and get stuck between them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25" name="Google Shape;1625;p152"/>
          <p:cNvGrpSpPr/>
          <p:nvPr/>
        </p:nvGrpSpPr>
        <p:grpSpPr>
          <a:xfrm>
            <a:off x="4751951" y="2258933"/>
            <a:ext cx="4086059" cy="1133371"/>
            <a:chOff x="322301" y="2526073"/>
            <a:chExt cx="4087181" cy="1127002"/>
          </a:xfrm>
        </p:grpSpPr>
        <p:grpSp>
          <p:nvGrpSpPr>
            <p:cNvPr id="1626" name="Google Shape;1626;p152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627" name="Google Shape;1627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28" name="Google Shape;1628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One guided surface — no Basic or Advanced split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9" name="Google Shape;1629;p152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630" name="Google Shape;1630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31" name="Google Shape;1631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Capture level chosen in context, per rule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32" name="Google Shape;1632;p152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33" name="Google Shape;1633;p152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34" name="Google Shape;1634;p152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Full control preserved, now comprehensible and OS-independent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15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3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Objectives, method and participants</a:t>
            </a:r>
            <a:endParaRPr/>
          </a:p>
        </p:txBody>
      </p:sp>
      <p:sp>
        <p:nvSpPr>
          <p:cNvPr id="1677" name="Google Shape;1677;p154"/>
          <p:cNvSpPr txBox="1"/>
          <p:nvPr/>
        </p:nvSpPr>
        <p:spPr>
          <a:xfrm>
            <a:off x="305991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Objectives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78" name="Google Shape;1678;p154"/>
          <p:cNvGrpSpPr/>
          <p:nvPr/>
        </p:nvGrpSpPr>
        <p:grpSpPr>
          <a:xfrm>
            <a:off x="305991" y="2258935"/>
            <a:ext cx="1863004" cy="1133381"/>
            <a:chOff x="322301" y="2526067"/>
            <a:chExt cx="4087181" cy="1127008"/>
          </a:xfrm>
        </p:grpSpPr>
        <p:grpSp>
          <p:nvGrpSpPr>
            <p:cNvPr id="1679" name="Google Shape;1679;p154"/>
            <p:cNvGrpSpPr/>
            <p:nvPr/>
          </p:nvGrpSpPr>
          <p:grpSpPr>
            <a:xfrm>
              <a:off x="322301" y="2526067"/>
              <a:ext cx="4087181" cy="218712"/>
              <a:chOff x="315951" y="3029315"/>
              <a:chExt cx="2627300" cy="218712"/>
            </a:xfrm>
          </p:grpSpPr>
          <p:cxnSp>
            <p:nvCxnSpPr>
              <p:cNvPr id="1680" name="Google Shape;1680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1" name="Google Shape;1681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Understand how IT admins configure the client today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2" name="Google Shape;1682;p154"/>
            <p:cNvGrpSpPr/>
            <p:nvPr/>
          </p:nvGrpSpPr>
          <p:grpSpPr>
            <a:xfrm>
              <a:off x="322301" y="2980213"/>
              <a:ext cx="4087181" cy="218712"/>
              <a:chOff x="315951" y="3029315"/>
              <a:chExt cx="2627300" cy="218712"/>
            </a:xfrm>
          </p:grpSpPr>
          <p:cxnSp>
            <p:nvCxnSpPr>
              <p:cNvPr id="1683" name="Google Shape;1683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4" name="Google Shape;1684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Surface pain points in the configuration workflow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5" name="Google Shape;1685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686" name="Google Shape;1686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7" name="Google Shape;1687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Learn which settings matter most — and least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1688" name="Google Shape;1688;p154"/>
          <p:cNvSpPr txBox="1"/>
          <p:nvPr/>
        </p:nvSpPr>
        <p:spPr>
          <a:xfrm>
            <a:off x="2528995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Method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89" name="Google Shape;1689;p154"/>
          <p:cNvGrpSpPr/>
          <p:nvPr/>
        </p:nvGrpSpPr>
        <p:grpSpPr>
          <a:xfrm>
            <a:off x="2528995" y="2258941"/>
            <a:ext cx="1863004" cy="219949"/>
            <a:chOff x="315951" y="3029315"/>
            <a:chExt cx="2627300" cy="218712"/>
          </a:xfrm>
        </p:grpSpPr>
        <p:cxnSp>
          <p:nvCxnSpPr>
            <p:cNvPr id="1690" name="Google Shape;1690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1" name="Google Shape;1691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In-depth qualitative interviews, 45–60 min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92" name="Google Shape;1692;p154"/>
          <p:cNvGrpSpPr/>
          <p:nvPr/>
        </p:nvGrpSpPr>
        <p:grpSpPr>
          <a:xfrm>
            <a:off x="2528995" y="2715653"/>
            <a:ext cx="1863004" cy="219949"/>
            <a:chOff x="315951" y="3029315"/>
            <a:chExt cx="2627300" cy="218712"/>
          </a:xfrm>
        </p:grpSpPr>
        <p:cxnSp>
          <p:nvCxnSpPr>
            <p:cNvPr id="1693" name="Google Shape;1693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4" name="Google Shape;1694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Tree / first-click navigation testing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95" name="Google Shape;1695;p154"/>
          <p:cNvGrpSpPr/>
          <p:nvPr/>
        </p:nvGrpSpPr>
        <p:grpSpPr>
          <a:xfrm>
            <a:off x="2528995" y="3172364"/>
            <a:ext cx="1863004" cy="219949"/>
            <a:chOff x="315951" y="3029315"/>
            <a:chExt cx="2627300" cy="218712"/>
          </a:xfrm>
        </p:grpSpPr>
        <p:cxnSp>
          <p:nvCxnSpPr>
            <p:cNvPr id="1696" name="Google Shape;1696;p154"/>
            <p:cNvCxnSpPr/>
            <p:nvPr/>
          </p:nvCxnSpPr>
          <p:spPr>
            <a:xfrm>
              <a:off x="315951" y="3029315"/>
              <a:ext cx="2627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7" name="Google Shape;1697;p154"/>
            <p:cNvSpPr txBox="1"/>
            <p:nvPr/>
          </p:nvSpPr>
          <p:spPr>
            <a:xfrm>
              <a:off x="315951" y="3095004"/>
              <a:ext cx="2627300" cy="153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Grouped review of the event and data lists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98" name="Google Shape;1698;p154"/>
          <p:cNvSpPr txBox="1"/>
          <p:nvPr/>
        </p:nvSpPr>
        <p:spPr>
          <a:xfrm>
            <a:off x="6975004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Scope &amp; status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99" name="Google Shape;1699;p154"/>
          <p:cNvGrpSpPr/>
          <p:nvPr/>
        </p:nvGrpSpPr>
        <p:grpSpPr>
          <a:xfrm>
            <a:off x="6975004" y="2258933"/>
            <a:ext cx="1863004" cy="1133371"/>
            <a:chOff x="322301" y="2526073"/>
            <a:chExt cx="4087181" cy="1127002"/>
          </a:xfrm>
        </p:grpSpPr>
        <p:grpSp>
          <p:nvGrpSpPr>
            <p:cNvPr id="1700" name="Google Shape;1700;p154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701" name="Google Shape;1701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2" name="Google Shape;1702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Interviews complete; IA validated via nav tests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3" name="Google Shape;1703;p154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704" name="Google Shape;1704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5" name="Google Shape;1705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2 navigation sessions run · 20 Jul 2026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6" name="Google Shape;1706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707" name="Google Shape;1707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08" name="Google Shape;1708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Directional but consistent — a 3rd is pending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1709" name="Google Shape;1709;p154"/>
          <p:cNvSpPr txBox="1"/>
          <p:nvPr/>
        </p:nvSpPr>
        <p:spPr>
          <a:xfrm>
            <a:off x="4751999" y="1556220"/>
            <a:ext cx="1863004" cy="34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Participants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710" name="Google Shape;1710;p154"/>
          <p:cNvGrpSpPr/>
          <p:nvPr/>
        </p:nvGrpSpPr>
        <p:grpSpPr>
          <a:xfrm>
            <a:off x="4751999" y="2258933"/>
            <a:ext cx="1863004" cy="1133371"/>
            <a:chOff x="322301" y="2526073"/>
            <a:chExt cx="4087181" cy="1127002"/>
          </a:xfrm>
        </p:grpSpPr>
        <p:grpSp>
          <p:nvGrpSpPr>
            <p:cNvPr id="1711" name="Google Shape;1711;p154"/>
            <p:cNvGrpSpPr/>
            <p:nvPr/>
          </p:nvGrpSpPr>
          <p:grpSpPr>
            <a:xfrm>
              <a:off x="322301" y="2526073"/>
              <a:ext cx="4087181" cy="218712"/>
              <a:chOff x="315951" y="3029315"/>
              <a:chExt cx="2627300" cy="218712"/>
            </a:xfrm>
          </p:grpSpPr>
          <p:cxnSp>
            <p:nvCxnSpPr>
              <p:cNvPr id="1712" name="Google Shape;1712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3" name="Google Shape;1713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6 in interviews — 5 internal VEs, 1 CoE (Allianz)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4" name="Google Shape;1714;p154"/>
            <p:cNvGrpSpPr/>
            <p:nvPr/>
          </p:nvGrpSpPr>
          <p:grpSpPr>
            <a:xfrm>
              <a:off x="322301" y="2980218"/>
              <a:ext cx="4087181" cy="218712"/>
              <a:chOff x="315951" y="3029315"/>
              <a:chExt cx="2627300" cy="218712"/>
            </a:xfrm>
          </p:grpSpPr>
          <p:cxnSp>
            <p:nvCxnSpPr>
              <p:cNvPr id="1715" name="Google Shape;1715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6" name="Google Shape;1716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VEs who configure for Goldman Sachs, Wells Fargo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7" name="Google Shape;1717;p154"/>
            <p:cNvGrpSpPr/>
            <p:nvPr/>
          </p:nvGrpSpPr>
          <p:grpSpPr>
            <a:xfrm>
              <a:off x="322301" y="3434363"/>
              <a:ext cx="4087181" cy="218712"/>
              <a:chOff x="315951" y="3029315"/>
              <a:chExt cx="2627300" cy="218712"/>
            </a:xfrm>
          </p:grpSpPr>
          <p:cxnSp>
            <p:nvCxnSpPr>
              <p:cNvPr id="1718" name="Google Shape;1718;p154"/>
              <p:cNvCxnSpPr/>
              <p:nvPr/>
            </p:nvCxnSpPr>
            <p:spPr>
              <a:xfrm>
                <a:off x="315951" y="3029315"/>
                <a:ext cx="262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19" name="Google Shape;1719;p154"/>
              <p:cNvSpPr txBox="1"/>
              <p:nvPr/>
            </p:nvSpPr>
            <p:spPr>
              <a:xfrm>
                <a:off x="315951" y="3095004"/>
                <a:ext cx="2627300" cy="153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PM and UXD observing each session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53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 xml:space="preserve">Three themes across the research</a:t>
            </a:r>
            <a:endParaRPr/>
          </a:p>
        </p:txBody>
      </p:sp>
      <p:sp>
        <p:nvSpPr>
          <p:cNvPr id="1640" name="Google Shape;1640;p153"/>
          <p:cNvSpPr txBox="1"/>
          <p:nvPr/>
        </p:nvSpPr>
        <p:spPr>
          <a:xfrm>
            <a:off x="305991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Configuration is fragmented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1" name="Google Shape;1641;p153"/>
          <p:cNvGrpSpPr/>
          <p:nvPr/>
        </p:nvGrpSpPr>
        <p:grpSpPr>
          <a:xfrm>
            <a:off x="305980" y="2259075"/>
            <a:ext cx="2604016" cy="219936"/>
            <a:chOff x="315951" y="3029315"/>
            <a:chExt cx="2627400" cy="218689"/>
          </a:xfrm>
        </p:grpSpPr>
        <p:cxnSp>
          <p:nvCxnSpPr>
            <p:cNvPr id="1642" name="Google Shape;1642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3" name="Google Shape;1643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Config files downloaded, edited and re-uploaded by hand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644" name="Google Shape;1644;p153"/>
          <p:cNvSpPr txBox="1"/>
          <p:nvPr/>
        </p:nvSpPr>
        <p:spPr>
          <a:xfrm>
            <a:off x="3269997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The IA is bloated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45" name="Google Shape;1645;p153"/>
          <p:cNvSpPr txBox="1"/>
          <p:nvPr/>
        </p:nvSpPr>
        <p:spPr>
          <a:xfrm>
            <a:off x="6234002" y="1556220"/>
            <a:ext cx="2604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 xml:space="preserve">Validation is ignored</a:t>
            </a:r>
            <a:endParaRPr sz="18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646" name="Google Shape;1646;p153"/>
          <p:cNvGrpSpPr/>
          <p:nvPr/>
        </p:nvGrpSpPr>
        <p:grpSpPr>
          <a:xfrm>
            <a:off x="305980" y="2715789"/>
            <a:ext cx="2604016" cy="219936"/>
            <a:chOff x="315951" y="3029315"/>
            <a:chExt cx="2627400" cy="218689"/>
          </a:xfrm>
        </p:grpSpPr>
        <p:cxnSp>
          <p:nvCxnSpPr>
            <p:cNvPr id="1647" name="Google Shape;1647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48" name="Google Shape;1648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Every participant felt the friction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49" name="Google Shape;1649;p153"/>
          <p:cNvGrpSpPr/>
          <p:nvPr/>
        </p:nvGrpSpPr>
        <p:grpSpPr>
          <a:xfrm>
            <a:off x="305980" y="3172507"/>
            <a:ext cx="2604016" cy="219936"/>
            <a:chOff x="315951" y="3029315"/>
            <a:chExt cx="2627400" cy="218689"/>
          </a:xfrm>
        </p:grpSpPr>
        <p:cxnSp>
          <p:nvCxnSpPr>
            <p:cNvPr id="1650" name="Google Shape;1650;p153"/>
            <p:cNvCxnSpPr/>
            <p:nvPr/>
          </p:nvCxnSpPr>
          <p:spPr>
            <a:xfrm>
              <a:off x="315951" y="3029315"/>
              <a:ext cx="262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51" name="Google Shape;1651;p153"/>
            <p:cNvSpPr txBox="1"/>
            <p:nvPr/>
          </p:nvSpPr>
          <p:spPr>
            <a:xfrm>
              <a:off x="315951" y="3095004"/>
              <a:ext cx="2627400" cy="1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 xml:space="preserve">All agree: bring Advanced into the web portal</a:t>
              </a:r>
              <a:endParaRPr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52" name="Google Shape;1652;p153"/>
          <p:cNvGrpSpPr/>
          <p:nvPr/>
        </p:nvGrpSpPr>
        <p:grpSpPr>
          <a:xfrm>
            <a:off x="6234007" y="2259056"/>
            <a:ext cx="2604112" cy="1133403"/>
            <a:chOff x="322314" y="2526073"/>
            <a:chExt cx="4087446" cy="1126979"/>
          </a:xfrm>
        </p:grpSpPr>
        <p:grpSp>
          <p:nvGrpSpPr>
            <p:cNvPr id="1653" name="Google Shape;1653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cxnSp>
            <p:nvCxnSpPr>
              <p:cNvPr id="1654" name="Google Shape;1654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5" name="Google Shape;1655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The built-in preview isn’t trusted or used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6" name="Google Shape;1656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cxnSp>
            <p:nvCxnSpPr>
              <p:cNvPr id="1657" name="Google Shape;165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58" name="Google Shape;165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Admins capture broad, then prune from real data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9" name="Google Shape;1659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0" name="Google Shape;1660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1" name="Google Shape;1661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The live monitor is hidden from who needs it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662" name="Google Shape;1662;p153"/>
          <p:cNvGrpSpPr/>
          <p:nvPr/>
        </p:nvGrpSpPr>
        <p:grpSpPr>
          <a:xfrm>
            <a:off x="3270002" y="2259056"/>
            <a:ext cx="2604112" cy="1133403"/>
            <a:chOff x="322314" y="2526073"/>
            <a:chExt cx="4087446" cy="1126979"/>
          </a:xfrm>
        </p:grpSpPr>
        <p:grpSp>
          <p:nvGrpSpPr>
            <p:cNvPr id="1663" name="Google Shape;1663;p153"/>
            <p:cNvGrpSpPr/>
            <p:nvPr/>
          </p:nvGrpSpPr>
          <p:grpSpPr>
            <a:xfrm>
              <a:off x="322314" y="2980218"/>
              <a:ext cx="4087446" cy="218689"/>
              <a:chOff x="315951" y="3029315"/>
              <a:chExt cx="2627400" cy="218689"/>
            </a:xfrm>
          </p:grpSpPr>
          <p:sp>
            <p:nvSpPr>
              <p:cNvPr id="1664" name="Google Shape;1664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Raw backend complexity exposed to admins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65" name="Google Shape;1665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666" name="Google Shape;1666;p153"/>
            <p:cNvGrpSpPr/>
            <p:nvPr/>
          </p:nvGrpSpPr>
          <p:grpSpPr>
            <a:xfrm>
              <a:off x="322314" y="3434363"/>
              <a:ext cx="4087446" cy="218689"/>
              <a:chOff x="315951" y="3029315"/>
              <a:chExt cx="2627400" cy="218689"/>
            </a:xfrm>
          </p:grpSpPr>
          <p:cxnSp>
            <p:nvCxnSpPr>
              <p:cNvPr id="1667" name="Google Shape;1667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68" name="Google Shape;1668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Text editor and many event rules go unused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9" name="Google Shape;1669;p153"/>
            <p:cNvGrpSpPr/>
            <p:nvPr/>
          </p:nvGrpSpPr>
          <p:grpSpPr>
            <a:xfrm>
              <a:off x="322314" y="2526073"/>
              <a:ext cx="4087446" cy="218689"/>
              <a:chOff x="315951" y="3029315"/>
              <a:chExt cx="2627400" cy="218689"/>
            </a:xfrm>
          </p:grpSpPr>
          <p:sp>
            <p:nvSpPr>
              <p:cNvPr id="1670" name="Google Shape;1670;p153"/>
              <p:cNvSpPr txBox="1"/>
              <p:nvPr/>
            </p:nvSpPr>
            <p:spPr>
              <a:xfrm>
                <a:off x="315951" y="3095004"/>
                <a:ext cx="2627400" cy="1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 xml:space="preserve">Over-engineered, with ambiguous controls</a:t>
                </a:r>
                <a:endParaRPr sz="10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671" name="Google Shape;1671;p153"/>
              <p:cNvCxnSpPr/>
              <p:nvPr/>
            </p:nvCxnSpPr>
            <p:spPr>
              <a:xfrm>
                <a:off x="315951" y="3029315"/>
                <a:ext cx="2627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4565</Words>
  <Application>Microsoft Macintosh PowerPoint</Application>
  <PresentationFormat>On-screen Show (16:9)</PresentationFormat>
  <Paragraphs>997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89</vt:i4>
      </vt:variant>
    </vt:vector>
  </HeadingPairs>
  <TitlesOfParts>
    <vt:vector size="96" baseType="lpstr">
      <vt:lpstr>Poppins SemiBold</vt:lpstr>
      <vt:lpstr>Arial</vt:lpstr>
      <vt:lpstr>Poppins</vt:lpstr>
      <vt:lpstr>Calibri</vt:lpstr>
      <vt:lpstr>Simple Light</vt:lpstr>
      <vt:lpstr>Celonis Template 2024</vt:lpstr>
      <vt:lpstr>Celonis Template 2024</vt:lpstr>
      <vt:lpstr>I am your Celonis presentation master.</vt:lpstr>
      <vt:lpstr>PowerPoint Presentation</vt:lpstr>
      <vt:lpstr>First, let’s start with some basics Font – “Poppins”</vt:lpstr>
      <vt:lpstr>PowerPoint Presentation</vt:lpstr>
      <vt:lpstr>PowerPoint Presentation</vt:lpstr>
      <vt:lpstr>Generally, please use  color sparingly.</vt:lpstr>
      <vt:lpstr>Logos</vt:lpstr>
      <vt:lpstr>Logos Need to change a graphic to all black or white? No problemo!</vt:lpstr>
      <vt:lpstr>Be Bold, be disruptive! But please don‘t scream at the audience</vt:lpstr>
      <vt:lpstr>PowerPoint Presentation</vt:lpstr>
      <vt:lpstr>Or breakout and only use  some really big text</vt:lpstr>
      <vt:lpstr>But please:</vt:lpstr>
      <vt:lpstr>Use these cover slides</vt:lpstr>
      <vt:lpstr>This is a template.  Presentation title goes here. </vt:lpstr>
      <vt:lpstr>PowerPoint Presentation</vt:lpstr>
      <vt:lpstr>This is an agenda</vt:lpstr>
      <vt:lpstr>This is an agenda</vt:lpstr>
      <vt:lpstr>PowerPoint Presentation</vt:lpstr>
      <vt:lpstr>A fancy agenda</vt:lpstr>
      <vt:lpstr>A beautiful timeline</vt:lpstr>
      <vt:lpstr>Another beautiful timeline</vt:lpstr>
      <vt:lpstr>Content Slides White</vt:lpstr>
      <vt:lpstr>The team</vt:lpstr>
      <vt:lpstr>This is a headline for a two-column layout</vt:lpstr>
      <vt:lpstr>This is a headline for a three-column layout</vt:lpstr>
      <vt:lpstr>This is a headline for a four-column layout</vt:lpstr>
      <vt:lpstr>This is a headline for a four-column layout</vt:lpstr>
      <vt:lpstr>Some text with an image</vt:lpstr>
      <vt:lpstr>Some text with an image</vt:lpstr>
      <vt:lpstr>Some text with an image</vt:lpstr>
      <vt:lpstr>PowerPoint Presentation</vt:lpstr>
      <vt:lpstr>Separator Slides  White</vt:lpstr>
      <vt:lpstr>PowerPoint Presentation</vt:lpstr>
      <vt:lpstr>PowerPoint Presentation</vt:lpstr>
      <vt:lpstr>PowerPoint Presentation</vt:lpstr>
      <vt:lpstr>PowerPoint Presentation</vt:lpstr>
      <vt:lpstr>“Digital transformation projects are over budget and behind schedule.”</vt:lpstr>
      <vt:lpstr>This is a headline</vt:lpstr>
      <vt:lpstr>Diagram example</vt:lpstr>
      <vt:lpstr>PowerPoint Presentation</vt:lpstr>
      <vt:lpstr>PowerPoint Presentation</vt:lpstr>
      <vt:lpstr>Slides with devices White</vt:lpstr>
      <vt:lpstr>This is a headline</vt:lpstr>
      <vt:lpstr>This is a headline </vt:lpstr>
      <vt:lpstr>This is a headline</vt:lpstr>
      <vt:lpstr>This is a headline</vt:lpstr>
      <vt:lpstr>Thank you.</vt:lpstr>
      <vt:lpstr>This is the sample layout</vt:lpstr>
      <vt:lpstr>This is the sample layout</vt:lpstr>
      <vt:lpstr>This is the sample layout</vt:lpstr>
      <vt:lpstr>This is the sample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Please insert your title here Subtitle</vt:lpstr>
      <vt:lpstr>Please insert your title here Subtitle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Please insert your title here Subtitle</vt:lpstr>
      <vt:lpstr>PowerPoint Presentation</vt:lpstr>
      <vt:lpstr>Please insert your title here Subtitle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Xxx</vt:lpstr>
      <vt:lpstr>PowerPoint Presentation</vt:lpstr>
      <vt:lpstr>Xxx Xxx</vt:lpstr>
      <vt:lpstr>Quick bullet on  customer objective</vt:lpstr>
      <vt:lpstr>Quick bullet on  customer objective</vt:lpstr>
      <vt:lpstr>Quick bullet on  customer objective</vt:lpstr>
      <vt:lpstr>Timeline variants for copy-paste</vt:lpstr>
      <vt:lpstr>The multi-year journey  (3-step variant)</vt:lpstr>
      <vt:lpstr>The multi-year journey  (4-step variant)</vt:lpstr>
      <vt:lpstr>The multi-year journey  (5-step variant)</vt:lpstr>
      <vt:lpstr>Please insert your title here Subtitle</vt:lpstr>
      <vt:lpstr>Please insert your title here Subtitle</vt:lpstr>
      <vt:lpstr>Please insert your title here Subtitle</vt:lpstr>
      <vt:lpstr>Please insert your title here Subtitle</vt:lpstr>
      <vt:lpstr>Please insert your title here Subtitle</vt:lpstr>
      <vt:lpstr>Please insert your title here Subtitle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Moritz Moeller</cp:lastModifiedBy>
  <cp:revision>1</cp:revision>
  <dcterms:modified xsi:type="dcterms:W3CDTF">2026-03-14T21:53:32Z</dcterms:modified>
</cp:coreProperties>
</file>